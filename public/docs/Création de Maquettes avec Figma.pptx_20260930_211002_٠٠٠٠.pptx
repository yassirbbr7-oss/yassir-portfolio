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6"/>
    </p:embeddedFont>
    <p:embeddedFont>
      <p:font typeface="Arimo" charset="1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3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7006457"/>
            <a:ext cx="2872007" cy="685800"/>
            <a:chOff x="0" y="0"/>
            <a:chExt cx="3829342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29431" cy="914400"/>
            </a:xfrm>
            <a:custGeom>
              <a:avLst/>
              <a:gdLst/>
              <a:ahLst/>
              <a:cxnLst/>
              <a:rect r="r" b="b" t="t" l="l"/>
              <a:pathLst>
                <a:path h="914400" w="3829431">
                  <a:moveTo>
                    <a:pt x="0" y="155702"/>
                  </a:moveTo>
                  <a:cubicBezTo>
                    <a:pt x="0" y="69723"/>
                    <a:pt x="69723" y="0"/>
                    <a:pt x="155702" y="0"/>
                  </a:cubicBezTo>
                  <a:lnTo>
                    <a:pt x="3673729" y="0"/>
                  </a:lnTo>
                  <a:cubicBezTo>
                    <a:pt x="3759708" y="0"/>
                    <a:pt x="3829431" y="69723"/>
                    <a:pt x="3829431" y="155702"/>
                  </a:cubicBezTo>
                  <a:lnTo>
                    <a:pt x="3829431" y="758698"/>
                  </a:lnTo>
                  <a:cubicBezTo>
                    <a:pt x="3829431" y="844677"/>
                    <a:pt x="3759708" y="914400"/>
                    <a:pt x="3673729" y="914400"/>
                  </a:cubicBezTo>
                  <a:lnTo>
                    <a:pt x="155702" y="914400"/>
                  </a:lnTo>
                  <a:cubicBezTo>
                    <a:pt x="69723" y="914400"/>
                    <a:pt x="0" y="844677"/>
                    <a:pt x="0" y="758698"/>
                  </a:cubicBezTo>
                  <a:close/>
                </a:path>
              </a:pathLst>
            </a:custGeom>
            <a:solidFill>
              <a:srgbClr val="262049"/>
            </a:solidFill>
            <a:ln w="14288" cap="sq">
              <a:solidFill>
                <a:srgbClr val="3D2A6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050725" y="7006457"/>
            <a:ext cx="3486150" cy="685800"/>
            <a:chOff x="0" y="0"/>
            <a:chExt cx="46482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48200" cy="914400"/>
            </a:xfrm>
            <a:custGeom>
              <a:avLst/>
              <a:gdLst/>
              <a:ahLst/>
              <a:cxnLst/>
              <a:rect r="r" b="b" t="t" l="l"/>
              <a:pathLst>
                <a:path h="914400" w="4648200">
                  <a:moveTo>
                    <a:pt x="0" y="155702"/>
                  </a:moveTo>
                  <a:cubicBezTo>
                    <a:pt x="0" y="69723"/>
                    <a:pt x="69723" y="0"/>
                    <a:pt x="155702" y="0"/>
                  </a:cubicBezTo>
                  <a:lnTo>
                    <a:pt x="4492498" y="0"/>
                  </a:lnTo>
                  <a:cubicBezTo>
                    <a:pt x="4578477" y="0"/>
                    <a:pt x="4648200" y="69723"/>
                    <a:pt x="4648200" y="155702"/>
                  </a:cubicBezTo>
                  <a:lnTo>
                    <a:pt x="4648200" y="758698"/>
                  </a:lnTo>
                  <a:cubicBezTo>
                    <a:pt x="4648200" y="844677"/>
                    <a:pt x="4578477" y="914400"/>
                    <a:pt x="4492498" y="914400"/>
                  </a:cubicBezTo>
                  <a:lnTo>
                    <a:pt x="155702" y="914400"/>
                  </a:lnTo>
                  <a:cubicBezTo>
                    <a:pt x="69723" y="914400"/>
                    <a:pt x="0" y="844677"/>
                    <a:pt x="0" y="758698"/>
                  </a:cubicBezTo>
                  <a:close/>
                </a:path>
              </a:pathLst>
            </a:custGeom>
            <a:solidFill>
              <a:srgbClr val="1B2335"/>
            </a:solidFill>
            <a:ln w="14288" cap="sq">
              <a:solidFill>
                <a:srgbClr val="272E3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601887"/>
            <a:ext cx="385762" cy="514350"/>
            <a:chOff x="0" y="0"/>
            <a:chExt cx="514350" cy="6858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14350" cy="685800"/>
            </a:xfrm>
            <a:custGeom>
              <a:avLst/>
              <a:gdLst/>
              <a:ahLst/>
              <a:cxnLst/>
              <a:rect r="r" b="b" t="t" l="l"/>
              <a:pathLst>
                <a:path h="6858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88" r="0" b="-138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4400" y="3468662"/>
            <a:ext cx="13651706" cy="183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4"/>
              </a:lnSpc>
            </a:pPr>
            <a:r>
              <a:rPr lang="en-US" sz="6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Création des Maquettes avec Figma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5508650"/>
            <a:ext cx="108585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De la méthodologie UX/UI à la conception de prototypes interactifs et de Design Systems professionnels.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1612" y="2689993"/>
            <a:ext cx="4929188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C084FC"/>
                </a:solidFill>
                <a:latin typeface="Arimo Bold"/>
                <a:ea typeface="Arimo Bold"/>
                <a:cs typeface="Arimo Bold"/>
                <a:sym typeface="Arimo Bold"/>
              </a:rPr>
              <a:t>GUIDE COMPLET UX/UI &amp; FIGMA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0150" y="7166000"/>
            <a:ext cx="2429094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E9D5FF"/>
                </a:solidFill>
                <a:latin typeface="Arimo Bold"/>
                <a:ea typeface="Arimo Bold"/>
                <a:cs typeface="Arimo Bold"/>
                <a:sym typeface="Arimo Bold"/>
              </a:rPr>
              <a:t>Design de </a:t>
            </a:r>
            <a:r>
              <a:rPr lang="ar-EG" sz="1687" b="true">
                <a:solidFill>
                  <a:srgbClr val="E9D5FF"/>
                </a:solidFill>
                <a:latin typeface="Arimo Bold"/>
                <a:ea typeface="Arimo Bold"/>
                <a:cs typeface="Arimo Bold"/>
                <a:sym typeface="Arimo Bold"/>
                <a:rtl val="true"/>
              </a:rPr>
              <a:t>الواجهات الرقمية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43619" y="7166000"/>
            <a:ext cx="3043238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Prototypage &amp; Auto Layout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3350419"/>
            <a:ext cx="4925616" cy="5157788"/>
            <a:chOff x="0" y="0"/>
            <a:chExt cx="6567488" cy="6877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67551" cy="6877050"/>
            </a:xfrm>
            <a:custGeom>
              <a:avLst/>
              <a:gdLst/>
              <a:ahLst/>
              <a:cxnLst/>
              <a:rect r="r" b="b" t="t" l="l"/>
              <a:pathLst>
                <a:path h="6877050" w="6567551">
                  <a:moveTo>
                    <a:pt x="0" y="229235"/>
                  </a:moveTo>
                  <a:cubicBezTo>
                    <a:pt x="0" y="102616"/>
                    <a:pt x="102616" y="0"/>
                    <a:pt x="229235" y="0"/>
                  </a:cubicBezTo>
                  <a:lnTo>
                    <a:pt x="6338316" y="0"/>
                  </a:lnTo>
                  <a:cubicBezTo>
                    <a:pt x="6464935" y="0"/>
                    <a:pt x="6567551" y="102616"/>
                    <a:pt x="6567551" y="229235"/>
                  </a:cubicBezTo>
                  <a:lnTo>
                    <a:pt x="6567551" y="6647815"/>
                  </a:lnTo>
                  <a:cubicBezTo>
                    <a:pt x="6567551" y="6774434"/>
                    <a:pt x="6464935" y="6877050"/>
                    <a:pt x="6338316" y="6877050"/>
                  </a:cubicBezTo>
                  <a:lnTo>
                    <a:pt x="229235" y="6877050"/>
                  </a:lnTo>
                  <a:cubicBezTo>
                    <a:pt x="102616" y="6877050"/>
                    <a:pt x="0" y="6774434"/>
                    <a:pt x="0" y="6647815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275784" y="3350419"/>
            <a:ext cx="4925616" cy="5157788"/>
            <a:chOff x="0" y="0"/>
            <a:chExt cx="6567488" cy="6877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67551" cy="6877050"/>
            </a:xfrm>
            <a:custGeom>
              <a:avLst/>
              <a:gdLst/>
              <a:ahLst/>
              <a:cxnLst/>
              <a:rect r="r" b="b" t="t" l="l"/>
              <a:pathLst>
                <a:path h="6877050" w="6567551">
                  <a:moveTo>
                    <a:pt x="0" y="229235"/>
                  </a:moveTo>
                  <a:cubicBezTo>
                    <a:pt x="0" y="102616"/>
                    <a:pt x="102616" y="0"/>
                    <a:pt x="229235" y="0"/>
                  </a:cubicBezTo>
                  <a:lnTo>
                    <a:pt x="6338316" y="0"/>
                  </a:lnTo>
                  <a:cubicBezTo>
                    <a:pt x="6464935" y="0"/>
                    <a:pt x="6567551" y="102616"/>
                    <a:pt x="6567551" y="229235"/>
                  </a:cubicBezTo>
                  <a:lnTo>
                    <a:pt x="6567551" y="6647815"/>
                  </a:lnTo>
                  <a:cubicBezTo>
                    <a:pt x="6567551" y="6774434"/>
                    <a:pt x="6464935" y="6877050"/>
                    <a:pt x="6338316" y="6877050"/>
                  </a:cubicBezTo>
                  <a:lnTo>
                    <a:pt x="229235" y="6877050"/>
                  </a:lnTo>
                  <a:cubicBezTo>
                    <a:pt x="102616" y="6877050"/>
                    <a:pt x="0" y="6774434"/>
                    <a:pt x="0" y="6647815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651456" y="3357562"/>
            <a:ext cx="5722144" cy="5143500"/>
            <a:chOff x="0" y="0"/>
            <a:chExt cx="7629525" cy="685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9525" cy="6858000"/>
            </a:xfrm>
            <a:custGeom>
              <a:avLst/>
              <a:gdLst/>
              <a:ahLst/>
              <a:cxnLst/>
              <a:rect r="r" b="b" t="t" l="l"/>
              <a:pathLst>
                <a:path h="6858000" w="7629525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7400925" y="0"/>
                  </a:lnTo>
                  <a:cubicBezTo>
                    <a:pt x="7527163" y="0"/>
                    <a:pt x="7629525" y="102362"/>
                    <a:pt x="7629525" y="228600"/>
                  </a:cubicBezTo>
                  <a:lnTo>
                    <a:pt x="7629525" y="6629400"/>
                  </a:lnTo>
                  <a:cubicBezTo>
                    <a:pt x="7629525" y="6755638"/>
                    <a:pt x="7527163" y="6858000"/>
                    <a:pt x="7400925" y="6858000"/>
                  </a:cubicBezTo>
                  <a:lnTo>
                    <a:pt x="228600" y="6858000"/>
                  </a:lnTo>
                  <a:cubicBezTo>
                    <a:pt x="102362" y="6858000"/>
                    <a:pt x="0" y="6755638"/>
                    <a:pt x="0" y="662940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994356" y="4772025"/>
            <a:ext cx="5036344" cy="942975"/>
            <a:chOff x="0" y="0"/>
            <a:chExt cx="6715125" cy="1257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15125" cy="1257300"/>
            </a:xfrm>
            <a:custGeom>
              <a:avLst/>
              <a:gdLst/>
              <a:ahLst/>
              <a:cxnLst/>
              <a:rect r="r" b="b" t="t" l="l"/>
              <a:pathLst>
                <a:path h="1257300" w="6715125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562725" y="0"/>
                  </a:lnTo>
                  <a:cubicBezTo>
                    <a:pt x="6646926" y="0"/>
                    <a:pt x="6715125" y="68199"/>
                    <a:pt x="6715125" y="152400"/>
                  </a:cubicBezTo>
                  <a:lnTo>
                    <a:pt x="6715125" y="1104900"/>
                  </a:lnTo>
                  <a:cubicBezTo>
                    <a:pt x="6715125" y="1189101"/>
                    <a:pt x="6646926" y="1257300"/>
                    <a:pt x="6562725" y="1257300"/>
                  </a:cubicBezTo>
                  <a:lnTo>
                    <a:pt x="152400" y="1257300"/>
                  </a:lnTo>
                  <a:cubicBezTo>
                    <a:pt x="68199" y="1257300"/>
                    <a:pt x="0" y="1189101"/>
                    <a:pt x="0" y="1104900"/>
                  </a:cubicBezTo>
                  <a:close/>
                </a:path>
              </a:pathLst>
            </a:custGeom>
            <a:solidFill>
              <a:srgbClr val="222A3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94356" y="4772025"/>
            <a:ext cx="42862" cy="942975"/>
            <a:chOff x="0" y="0"/>
            <a:chExt cx="57150" cy="1257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" cy="1257300"/>
            </a:xfrm>
            <a:custGeom>
              <a:avLst/>
              <a:gdLst/>
              <a:ahLst/>
              <a:cxnLst/>
              <a:rect r="r" b="b" t="t" l="l"/>
              <a:pathLst>
                <a:path h="1257300" w="57150">
                  <a:moveTo>
                    <a:pt x="0" y="0"/>
                  </a:moveTo>
                  <a:lnTo>
                    <a:pt x="57150" y="0"/>
                  </a:lnTo>
                  <a:lnTo>
                    <a:pt x="57150" y="1257300"/>
                  </a:lnTo>
                  <a:lnTo>
                    <a:pt x="0" y="1257300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994356" y="5886450"/>
            <a:ext cx="5036344" cy="642938"/>
            <a:chOff x="0" y="0"/>
            <a:chExt cx="6715125" cy="857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15125" cy="857250"/>
            </a:xfrm>
            <a:custGeom>
              <a:avLst/>
              <a:gdLst/>
              <a:ahLst/>
              <a:cxnLst/>
              <a:rect r="r" b="b" t="t" l="l"/>
              <a:pathLst>
                <a:path h="857250" w="6715125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562725" y="0"/>
                  </a:lnTo>
                  <a:cubicBezTo>
                    <a:pt x="6646926" y="0"/>
                    <a:pt x="6715125" y="68199"/>
                    <a:pt x="6715125" y="152400"/>
                  </a:cubicBezTo>
                  <a:lnTo>
                    <a:pt x="6715125" y="704850"/>
                  </a:lnTo>
                  <a:cubicBezTo>
                    <a:pt x="6715125" y="789051"/>
                    <a:pt x="6646926" y="857250"/>
                    <a:pt x="6562725" y="857250"/>
                  </a:cubicBezTo>
                  <a:lnTo>
                    <a:pt x="152400" y="857250"/>
                  </a:lnTo>
                  <a:cubicBezTo>
                    <a:pt x="68199" y="857250"/>
                    <a:pt x="0" y="789051"/>
                    <a:pt x="0" y="704850"/>
                  </a:cubicBezTo>
                  <a:close/>
                </a:path>
              </a:pathLst>
            </a:custGeom>
            <a:solidFill>
              <a:srgbClr val="222A3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94356" y="5886450"/>
            <a:ext cx="42862" cy="642938"/>
            <a:chOff x="0" y="0"/>
            <a:chExt cx="57150" cy="857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" cy="857250"/>
            </a:xfrm>
            <a:custGeom>
              <a:avLst/>
              <a:gdLst/>
              <a:ahLst/>
              <a:cxnLst/>
              <a:rect r="r" b="b" t="t" l="l"/>
              <a:pathLst>
                <a:path h="857250" w="57150">
                  <a:moveTo>
                    <a:pt x="0" y="0"/>
                  </a:moveTo>
                  <a:lnTo>
                    <a:pt x="57150" y="0"/>
                  </a:lnTo>
                  <a:lnTo>
                    <a:pt x="5715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994356" y="6700838"/>
            <a:ext cx="5036344" cy="942975"/>
            <a:chOff x="0" y="0"/>
            <a:chExt cx="6715125" cy="1257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15125" cy="1257300"/>
            </a:xfrm>
            <a:custGeom>
              <a:avLst/>
              <a:gdLst/>
              <a:ahLst/>
              <a:cxnLst/>
              <a:rect r="r" b="b" t="t" l="l"/>
              <a:pathLst>
                <a:path h="1257300" w="6715125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562725" y="0"/>
                  </a:lnTo>
                  <a:cubicBezTo>
                    <a:pt x="6646926" y="0"/>
                    <a:pt x="6715125" y="68199"/>
                    <a:pt x="6715125" y="152400"/>
                  </a:cubicBezTo>
                  <a:lnTo>
                    <a:pt x="6715125" y="1104900"/>
                  </a:lnTo>
                  <a:cubicBezTo>
                    <a:pt x="6715125" y="1189101"/>
                    <a:pt x="6646926" y="1257300"/>
                    <a:pt x="6562725" y="1257300"/>
                  </a:cubicBezTo>
                  <a:lnTo>
                    <a:pt x="152400" y="1257300"/>
                  </a:lnTo>
                  <a:cubicBezTo>
                    <a:pt x="68199" y="1257300"/>
                    <a:pt x="0" y="1189101"/>
                    <a:pt x="0" y="1104900"/>
                  </a:cubicBezTo>
                  <a:close/>
                </a:path>
              </a:pathLst>
            </a:custGeom>
            <a:solidFill>
              <a:srgbClr val="222A3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994356" y="6700838"/>
            <a:ext cx="42862" cy="942975"/>
            <a:chOff x="0" y="0"/>
            <a:chExt cx="57150" cy="12573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150" cy="1257300"/>
            </a:xfrm>
            <a:custGeom>
              <a:avLst/>
              <a:gdLst/>
              <a:ahLst/>
              <a:cxnLst/>
              <a:rect r="r" b="b" t="t" l="l"/>
              <a:pathLst>
                <a:path h="1257300" w="57150">
                  <a:moveTo>
                    <a:pt x="0" y="0"/>
                  </a:moveTo>
                  <a:lnTo>
                    <a:pt x="57150" y="0"/>
                  </a:lnTo>
                  <a:lnTo>
                    <a:pt x="57150" y="1257300"/>
                  </a:lnTo>
                  <a:lnTo>
                    <a:pt x="0" y="12573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71588" y="3714750"/>
            <a:ext cx="571500" cy="571500"/>
            <a:chOff x="0" y="0"/>
            <a:chExt cx="762000" cy="7620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640116" y="3714750"/>
            <a:ext cx="571500" cy="571500"/>
            <a:chOff x="0" y="0"/>
            <a:chExt cx="762000" cy="7620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50" t="0" r="-125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" y="3871912"/>
            <a:ext cx="257175" cy="257175"/>
            <a:chOff x="0" y="0"/>
            <a:chExt cx="342900" cy="3429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97278" y="3871912"/>
            <a:ext cx="257175" cy="257175"/>
            <a:chOff x="0" y="0"/>
            <a:chExt cx="342900" cy="3429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77" t="0" r="-2777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14400" y="790575"/>
            <a:ext cx="7400925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333EA"/>
                </a:solidFill>
                <a:latin typeface="Arimo Bold"/>
                <a:ea typeface="Arimo Bold"/>
                <a:cs typeface="Arimo Bold"/>
                <a:sym typeface="Arimo Bold"/>
              </a:rPr>
              <a:t>Chapitre 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059025" y="1462087"/>
            <a:ext cx="289321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Méthodologie du Design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1128713"/>
            <a:ext cx="95261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1. Fondations UX/UI &amp; Processus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1588" y="4495800"/>
            <a:ext cx="5508498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UX Design (Expérience)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1588" y="4957763"/>
            <a:ext cx="4339828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Focus sur l'ergonomie, la recherche utilisateur, l'architecture de l'information et la facilité d'utilisation pour résoudre des problèmes concrets.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40116" y="4495800"/>
            <a:ext cx="5508498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UI Design (Interface)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640116" y="4957763"/>
            <a:ext cx="4339828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Focus sur l'aspect visuel : couleurs, typographie, espacements, boutons et éléments graphiques assurant la cohérence visuelle.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994356" y="4205287"/>
            <a:ext cx="629364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084FC"/>
                </a:solidFill>
                <a:latin typeface="Arimo Bold"/>
                <a:ea typeface="Arimo Bold"/>
                <a:cs typeface="Arimo Bold"/>
                <a:sym typeface="Arimo Bold"/>
              </a:rPr>
              <a:t>Le Cycle de Conception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22956" y="4933950"/>
            <a:ext cx="472201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1. Wireframe : </a:t>
            </a:r>
            <a:r>
              <a:rPr lang="en-US" sz="1575" b="true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Structure basse fidélité (Schéma)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22956" y="6048375"/>
            <a:ext cx="4722019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2. Mockup : </a:t>
            </a:r>
            <a:r>
              <a:rPr lang="en-US" sz="1575" b="true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Visuel haute fidélité (Statique)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22956" y="6862763"/>
            <a:ext cx="472201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3. Prototype : </a:t>
            </a:r>
            <a:r>
              <a:rPr lang="en-US" sz="1575" b="true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Maquette dynamique (Interactive)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957388"/>
            <a:ext cx="16459200" cy="14288"/>
            <a:chOff x="0" y="0"/>
            <a:chExt cx="219456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7256" y="3486150"/>
            <a:ext cx="7593359" cy="1485900"/>
            <a:chOff x="0" y="0"/>
            <a:chExt cx="10124478" cy="198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2444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124440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9932162" y="0"/>
                  </a:lnTo>
                  <a:cubicBezTo>
                    <a:pt x="10038334" y="0"/>
                    <a:pt x="10124440" y="86106"/>
                    <a:pt x="10124440" y="192278"/>
                  </a:cubicBezTo>
                  <a:lnTo>
                    <a:pt x="10124440" y="1788922"/>
                  </a:lnTo>
                  <a:cubicBezTo>
                    <a:pt x="10124440" y="1895094"/>
                    <a:pt x="10038334" y="1981200"/>
                    <a:pt x="9932162" y="1981200"/>
                  </a:cubicBezTo>
                  <a:lnTo>
                    <a:pt x="192278" y="1981200"/>
                  </a:lnTo>
                  <a:cubicBezTo>
                    <a:pt x="86106" y="1981200"/>
                    <a:pt x="0" y="1895094"/>
                    <a:pt x="0" y="17889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07256" y="5186362"/>
            <a:ext cx="7593359" cy="1485900"/>
            <a:chOff x="0" y="0"/>
            <a:chExt cx="10124478" cy="198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2444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124440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9932162" y="0"/>
                  </a:lnTo>
                  <a:cubicBezTo>
                    <a:pt x="10038334" y="0"/>
                    <a:pt x="10124440" y="86106"/>
                    <a:pt x="10124440" y="192278"/>
                  </a:cubicBezTo>
                  <a:lnTo>
                    <a:pt x="10124440" y="1788922"/>
                  </a:lnTo>
                  <a:cubicBezTo>
                    <a:pt x="10124440" y="1895094"/>
                    <a:pt x="10038334" y="1981200"/>
                    <a:pt x="9932162" y="1981200"/>
                  </a:cubicBezTo>
                  <a:lnTo>
                    <a:pt x="192278" y="1981200"/>
                  </a:lnTo>
                  <a:cubicBezTo>
                    <a:pt x="86106" y="1981200"/>
                    <a:pt x="0" y="1895094"/>
                    <a:pt x="0" y="17889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07256" y="6886575"/>
            <a:ext cx="7593359" cy="1485900"/>
            <a:chOff x="0" y="0"/>
            <a:chExt cx="10124478" cy="198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2444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124440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9932162" y="0"/>
                  </a:lnTo>
                  <a:cubicBezTo>
                    <a:pt x="10038334" y="0"/>
                    <a:pt x="10124440" y="86106"/>
                    <a:pt x="10124440" y="192278"/>
                  </a:cubicBezTo>
                  <a:lnTo>
                    <a:pt x="10124440" y="1788922"/>
                  </a:lnTo>
                  <a:cubicBezTo>
                    <a:pt x="10124440" y="1895094"/>
                    <a:pt x="10038334" y="1981200"/>
                    <a:pt x="9932162" y="1981200"/>
                  </a:cubicBezTo>
                  <a:lnTo>
                    <a:pt x="192278" y="1981200"/>
                  </a:lnTo>
                  <a:cubicBezTo>
                    <a:pt x="86106" y="1981200"/>
                    <a:pt x="0" y="1895094"/>
                    <a:pt x="0" y="17889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007821" y="3429000"/>
            <a:ext cx="8365779" cy="5000625"/>
            <a:chOff x="0" y="0"/>
            <a:chExt cx="11154372" cy="66675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1154410" cy="6667500"/>
            </a:xfrm>
            <a:custGeom>
              <a:avLst/>
              <a:gdLst/>
              <a:ahLst/>
              <a:cxnLst/>
              <a:rect r="r" b="b" t="t" l="l"/>
              <a:pathLst>
                <a:path h="6667500" w="11154410">
                  <a:moveTo>
                    <a:pt x="0" y="0"/>
                  </a:moveTo>
                  <a:lnTo>
                    <a:pt x="11154410" y="0"/>
                  </a:lnTo>
                  <a:lnTo>
                    <a:pt x="1115441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0" t="0" r="-3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22109" y="3443288"/>
            <a:ext cx="8337204" cy="4972050"/>
            <a:chOff x="0" y="0"/>
            <a:chExt cx="11116272" cy="6629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1116310" cy="6629400"/>
            </a:xfrm>
            <a:custGeom>
              <a:avLst/>
              <a:gdLst/>
              <a:ahLst/>
              <a:cxnLst/>
              <a:rect r="r" b="b" t="t" l="l"/>
              <a:pathLst>
                <a:path h="6629400" w="11116310">
                  <a:moveTo>
                    <a:pt x="0" y="0"/>
                  </a:moveTo>
                  <a:lnTo>
                    <a:pt x="11116310" y="0"/>
                  </a:lnTo>
                  <a:lnTo>
                    <a:pt x="11116310" y="6629400"/>
                  </a:lnTo>
                  <a:lnTo>
                    <a:pt x="0" y="662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1" r="0" b="-16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4438" y="3821906"/>
            <a:ext cx="257175" cy="257175"/>
            <a:chOff x="0" y="0"/>
            <a:chExt cx="342900" cy="3429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777" r="0" b="-277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4438" y="5522119"/>
            <a:ext cx="285750" cy="257175"/>
            <a:chOff x="0" y="0"/>
            <a:chExt cx="381000" cy="342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81000" cy="342900"/>
            </a:xfrm>
            <a:custGeom>
              <a:avLst/>
              <a:gdLst/>
              <a:ahLst/>
              <a:cxnLst/>
              <a:rect r="r" b="b" t="t" l="l"/>
              <a:pathLst>
                <a:path h="3429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77" r="0" b="-277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14438" y="7222331"/>
            <a:ext cx="257175" cy="257175"/>
            <a:chOff x="0" y="0"/>
            <a:chExt cx="342900" cy="3429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777" r="0" b="-2777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4400" y="790575"/>
            <a:ext cx="1660207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333EA"/>
                </a:solidFill>
                <a:latin typeface="Arimo Bold"/>
                <a:ea typeface="Arimo Bold"/>
                <a:cs typeface="Arimo Bold"/>
                <a:sym typeface="Arimo Bold"/>
              </a:rPr>
              <a:t>Chapitre 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1128713"/>
            <a:ext cx="173736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2. Découverte de l'Espace de Travail Figma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2088" y="3755231"/>
            <a:ext cx="891228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Le Canvas &amp; Toolbar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4438" y="4131469"/>
            <a:ext cx="712187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Zone de travail infinie avec accès rapide aux outils de dessin, texte, frames et commentaires.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81138" y="5455444"/>
            <a:ext cx="889323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9333EA"/>
                </a:solidFill>
                <a:latin typeface="Arimo Bold"/>
                <a:ea typeface="Arimo Bold"/>
                <a:cs typeface="Arimo Bold"/>
                <a:sym typeface="Arimo Bold"/>
              </a:rPr>
              <a:t>Panneau des Calques (Left Sidebar)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4438" y="5831681"/>
            <a:ext cx="712187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Gestion de la hiérarchie des objets, des pages, des composants et des calques verrouillés.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2088" y="7155656"/>
            <a:ext cx="891228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9333EA"/>
                </a:solidFill>
                <a:latin typeface="Arimo Bold"/>
                <a:ea typeface="Arimo Bold"/>
                <a:cs typeface="Arimo Bold"/>
                <a:sym typeface="Arimo Bold"/>
              </a:rPr>
              <a:t>Panneau Inspecteur (Right Sidebar)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4438" y="7531894"/>
            <a:ext cx="712187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Ajustement précis des dimensions, alignement, styles de couleur, effets et prototypage.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957388"/>
            <a:ext cx="16459200" cy="14288"/>
            <a:chOff x="0" y="0"/>
            <a:chExt cx="219456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7256" y="3350419"/>
            <a:ext cx="5272088" cy="5157788"/>
            <a:chOff x="0" y="0"/>
            <a:chExt cx="7029450" cy="6877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294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7029450">
                  <a:moveTo>
                    <a:pt x="0" y="229235"/>
                  </a:moveTo>
                  <a:cubicBezTo>
                    <a:pt x="0" y="102616"/>
                    <a:pt x="102616" y="0"/>
                    <a:pt x="229235" y="0"/>
                  </a:cubicBezTo>
                  <a:lnTo>
                    <a:pt x="6800215" y="0"/>
                  </a:lnTo>
                  <a:cubicBezTo>
                    <a:pt x="6926835" y="0"/>
                    <a:pt x="7029450" y="102616"/>
                    <a:pt x="7029450" y="229235"/>
                  </a:cubicBezTo>
                  <a:lnTo>
                    <a:pt x="7029450" y="6647815"/>
                  </a:lnTo>
                  <a:cubicBezTo>
                    <a:pt x="7029450" y="6774434"/>
                    <a:pt x="6926835" y="6877050"/>
                    <a:pt x="6800215" y="6877050"/>
                  </a:cubicBezTo>
                  <a:lnTo>
                    <a:pt x="229235" y="6877050"/>
                  </a:lnTo>
                  <a:cubicBezTo>
                    <a:pt x="102616" y="6877050"/>
                    <a:pt x="0" y="6774434"/>
                    <a:pt x="0" y="6647815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507956" y="3350419"/>
            <a:ext cx="5272088" cy="5157788"/>
            <a:chOff x="0" y="0"/>
            <a:chExt cx="7029450" cy="6877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294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7029450">
                  <a:moveTo>
                    <a:pt x="0" y="229235"/>
                  </a:moveTo>
                  <a:cubicBezTo>
                    <a:pt x="0" y="102616"/>
                    <a:pt x="102616" y="0"/>
                    <a:pt x="229235" y="0"/>
                  </a:cubicBezTo>
                  <a:lnTo>
                    <a:pt x="6800215" y="0"/>
                  </a:lnTo>
                  <a:cubicBezTo>
                    <a:pt x="6926835" y="0"/>
                    <a:pt x="7029450" y="102616"/>
                    <a:pt x="7029450" y="229235"/>
                  </a:cubicBezTo>
                  <a:lnTo>
                    <a:pt x="7029450" y="6647815"/>
                  </a:lnTo>
                  <a:cubicBezTo>
                    <a:pt x="7029450" y="6774434"/>
                    <a:pt x="6926835" y="6877050"/>
                    <a:pt x="6800215" y="6877050"/>
                  </a:cubicBezTo>
                  <a:lnTo>
                    <a:pt x="229235" y="6877050"/>
                  </a:lnTo>
                  <a:cubicBezTo>
                    <a:pt x="102616" y="6877050"/>
                    <a:pt x="0" y="6774434"/>
                    <a:pt x="0" y="6647815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08656" y="3350419"/>
            <a:ext cx="5272088" cy="5157788"/>
            <a:chOff x="0" y="0"/>
            <a:chExt cx="7029450" cy="6877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294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7029450">
                  <a:moveTo>
                    <a:pt x="0" y="229235"/>
                  </a:moveTo>
                  <a:cubicBezTo>
                    <a:pt x="0" y="102616"/>
                    <a:pt x="102616" y="0"/>
                    <a:pt x="229235" y="0"/>
                  </a:cubicBezTo>
                  <a:lnTo>
                    <a:pt x="6800215" y="0"/>
                  </a:lnTo>
                  <a:cubicBezTo>
                    <a:pt x="6926835" y="0"/>
                    <a:pt x="7029450" y="102616"/>
                    <a:pt x="7029450" y="229235"/>
                  </a:cubicBezTo>
                  <a:lnTo>
                    <a:pt x="7029450" y="6647815"/>
                  </a:lnTo>
                  <a:cubicBezTo>
                    <a:pt x="7029450" y="6774434"/>
                    <a:pt x="6926835" y="6877050"/>
                    <a:pt x="6800215" y="6877050"/>
                  </a:cubicBezTo>
                  <a:lnTo>
                    <a:pt x="229235" y="6877050"/>
                  </a:lnTo>
                  <a:cubicBezTo>
                    <a:pt x="102616" y="6877050"/>
                    <a:pt x="0" y="6774434"/>
                    <a:pt x="0" y="6647815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71588" y="3714750"/>
            <a:ext cx="571500" cy="571500"/>
            <a:chOff x="0" y="0"/>
            <a:chExt cx="762000" cy="762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72288" y="3714750"/>
            <a:ext cx="571500" cy="571500"/>
            <a:chOff x="0" y="0"/>
            <a:chExt cx="762000" cy="762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50" t="0" r="-125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472988" y="3714750"/>
            <a:ext cx="571500" cy="571500"/>
            <a:chOff x="0" y="0"/>
            <a:chExt cx="762000" cy="762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50" t="0" r="-125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28750" y="3871912"/>
            <a:ext cx="257175" cy="257175"/>
            <a:chOff x="0" y="0"/>
            <a:chExt cx="342900" cy="342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15162" y="3871912"/>
            <a:ext cx="285750" cy="257175"/>
            <a:chOff x="0" y="0"/>
            <a:chExt cx="381000" cy="3429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81000" cy="342900"/>
            </a:xfrm>
            <a:custGeom>
              <a:avLst/>
              <a:gdLst/>
              <a:ahLst/>
              <a:cxnLst/>
              <a:rect r="r" b="b" t="t" l="l"/>
              <a:pathLst>
                <a:path h="3429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500" t="0" r="-250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594431" y="3871912"/>
            <a:ext cx="328612" cy="257175"/>
            <a:chOff x="0" y="0"/>
            <a:chExt cx="438150" cy="3429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38150" cy="342900"/>
            </a:xfrm>
            <a:custGeom>
              <a:avLst/>
              <a:gdLst/>
              <a:ahLst/>
              <a:cxnLst/>
              <a:rect r="r" b="b" t="t" l="l"/>
              <a:pathLst>
                <a:path h="3429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73" t="0" r="-2173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14400" y="790575"/>
            <a:ext cx="1660207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Chapitre 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1128713"/>
            <a:ext cx="173736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3. Formes, Vecteurs &amp; Manipulation d'Éléments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1588" y="4505325"/>
            <a:ext cx="596324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Formes De Base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72288" y="4505325"/>
            <a:ext cx="596324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Transformations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72988" y="4505325"/>
            <a:ext cx="58150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Masques &amp; Effets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4462" y="4938712"/>
            <a:ext cx="1143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04962" y="4872037"/>
            <a:ext cx="528161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Rectangles, Ellipses, Lignes &amp; Polygones.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4462" y="5281612"/>
            <a:ext cx="1143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04962" y="5214937"/>
            <a:ext cx="435292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Outil Plume (Pen Tool) pour vecteurs personnalisés.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4462" y="5967412"/>
            <a:ext cx="1143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04962" y="5900737"/>
            <a:ext cx="528161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Insertion d'images et gestion du Fill.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15162" y="4938712"/>
            <a:ext cx="1143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205662" y="4872037"/>
            <a:ext cx="528161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Alignement précis &amp; répartition égale.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15162" y="5281612"/>
            <a:ext cx="1143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05662" y="5214937"/>
            <a:ext cx="528161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Redimensionnement (Constraint rules).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015162" y="5624512"/>
            <a:ext cx="1143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05662" y="5557837"/>
            <a:ext cx="528161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Opérations booléennes (Union, Subtract).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15862" y="4938712"/>
            <a:ext cx="1143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806362" y="4872037"/>
            <a:ext cx="528161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Utilisation des masques d'images.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15862" y="5281612"/>
            <a:ext cx="1143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806362" y="5214937"/>
            <a:ext cx="528161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Ombres portées (Drop Shadow) &amp; Flous.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15862" y="5624512"/>
            <a:ext cx="1143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06362" y="5557837"/>
            <a:ext cx="528161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Rayon de bordure (Border Radius).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957388"/>
            <a:ext cx="16459200" cy="14288"/>
            <a:chOff x="0" y="0"/>
            <a:chExt cx="219456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39558" y="4629150"/>
            <a:ext cx="8034042" cy="2600325"/>
            <a:chOff x="0" y="0"/>
            <a:chExt cx="10712056" cy="3467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12069" cy="3467100"/>
            </a:xfrm>
            <a:custGeom>
              <a:avLst/>
              <a:gdLst/>
              <a:ahLst/>
              <a:cxnLst/>
              <a:rect r="r" b="b" t="t" l="l"/>
              <a:pathLst>
                <a:path h="3467100" w="10712069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407269" y="0"/>
                  </a:lnTo>
                  <a:cubicBezTo>
                    <a:pt x="10575544" y="0"/>
                    <a:pt x="10712069" y="136398"/>
                    <a:pt x="10712069" y="304800"/>
                  </a:cubicBezTo>
                  <a:lnTo>
                    <a:pt x="10712069" y="3162300"/>
                  </a:lnTo>
                  <a:cubicBezTo>
                    <a:pt x="10712069" y="3330575"/>
                    <a:pt x="10575671" y="3467100"/>
                    <a:pt x="10407269" y="3467100"/>
                  </a:cubicBezTo>
                  <a:lnTo>
                    <a:pt x="304800" y="3467100"/>
                  </a:lnTo>
                  <a:cubicBezTo>
                    <a:pt x="136525" y="3467100"/>
                    <a:pt x="0" y="3330702"/>
                    <a:pt x="0" y="316230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3536156"/>
            <a:ext cx="7910808" cy="1443038"/>
            <a:chOff x="0" y="0"/>
            <a:chExt cx="10547744" cy="192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47731" cy="1924050"/>
            </a:xfrm>
            <a:custGeom>
              <a:avLst/>
              <a:gdLst/>
              <a:ahLst/>
              <a:cxnLst/>
              <a:rect r="r" b="b" t="t" l="l"/>
              <a:pathLst>
                <a:path h="1924050" w="10547731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0357231" y="0"/>
                  </a:lnTo>
                  <a:cubicBezTo>
                    <a:pt x="10462388" y="0"/>
                    <a:pt x="10547731" y="85344"/>
                    <a:pt x="10547731" y="190500"/>
                  </a:cubicBezTo>
                  <a:lnTo>
                    <a:pt x="10547731" y="1733550"/>
                  </a:lnTo>
                  <a:cubicBezTo>
                    <a:pt x="10547731" y="1838706"/>
                    <a:pt x="10462388" y="1924050"/>
                    <a:pt x="10357231" y="1924050"/>
                  </a:cubicBezTo>
                  <a:lnTo>
                    <a:pt x="190500" y="1924050"/>
                  </a:lnTo>
                  <a:cubicBezTo>
                    <a:pt x="85344" y="1924050"/>
                    <a:pt x="0" y="1838706"/>
                    <a:pt x="0" y="17335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5207794"/>
            <a:ext cx="7910808" cy="1443038"/>
            <a:chOff x="0" y="0"/>
            <a:chExt cx="10547744" cy="1924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7731" cy="1924050"/>
            </a:xfrm>
            <a:custGeom>
              <a:avLst/>
              <a:gdLst/>
              <a:ahLst/>
              <a:cxnLst/>
              <a:rect r="r" b="b" t="t" l="l"/>
              <a:pathLst>
                <a:path h="1924050" w="10547731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0357231" y="0"/>
                  </a:lnTo>
                  <a:cubicBezTo>
                    <a:pt x="10462388" y="0"/>
                    <a:pt x="10547731" y="85344"/>
                    <a:pt x="10547731" y="190500"/>
                  </a:cubicBezTo>
                  <a:lnTo>
                    <a:pt x="10547731" y="1733550"/>
                  </a:lnTo>
                  <a:cubicBezTo>
                    <a:pt x="10547731" y="1838706"/>
                    <a:pt x="10462388" y="1924050"/>
                    <a:pt x="10357231" y="1924050"/>
                  </a:cubicBezTo>
                  <a:lnTo>
                    <a:pt x="190500" y="1924050"/>
                  </a:lnTo>
                  <a:cubicBezTo>
                    <a:pt x="85344" y="1924050"/>
                    <a:pt x="0" y="1838706"/>
                    <a:pt x="0" y="17335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6879431"/>
            <a:ext cx="7910808" cy="1443038"/>
            <a:chOff x="0" y="0"/>
            <a:chExt cx="10547744" cy="1924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47731" cy="1924050"/>
            </a:xfrm>
            <a:custGeom>
              <a:avLst/>
              <a:gdLst/>
              <a:ahLst/>
              <a:cxnLst/>
              <a:rect r="r" b="b" t="t" l="l"/>
              <a:pathLst>
                <a:path h="1924050" w="10547731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0357231" y="0"/>
                  </a:lnTo>
                  <a:cubicBezTo>
                    <a:pt x="10462388" y="0"/>
                    <a:pt x="10547731" y="85344"/>
                    <a:pt x="10547731" y="190500"/>
                  </a:cubicBezTo>
                  <a:lnTo>
                    <a:pt x="10547731" y="1733550"/>
                  </a:lnTo>
                  <a:cubicBezTo>
                    <a:pt x="10547731" y="1838706"/>
                    <a:pt x="10462388" y="1924050"/>
                    <a:pt x="10357231" y="1924050"/>
                  </a:cubicBezTo>
                  <a:lnTo>
                    <a:pt x="190500" y="1924050"/>
                  </a:lnTo>
                  <a:cubicBezTo>
                    <a:pt x="85344" y="1924050"/>
                    <a:pt x="0" y="1838706"/>
                    <a:pt x="0" y="173355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3536156"/>
            <a:ext cx="57150" cy="1443038"/>
            <a:chOff x="0" y="0"/>
            <a:chExt cx="76200" cy="192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1924050"/>
            </a:xfrm>
            <a:custGeom>
              <a:avLst/>
              <a:gdLst/>
              <a:ahLst/>
              <a:cxnLst/>
              <a:rect r="r" b="b" t="t" l="l"/>
              <a:pathLst>
                <a:path h="19240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24050"/>
                  </a:lnTo>
                  <a:lnTo>
                    <a:pt x="0" y="192405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5207794"/>
            <a:ext cx="57150" cy="1443038"/>
            <a:chOff x="0" y="0"/>
            <a:chExt cx="76200" cy="1924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" cy="1924050"/>
            </a:xfrm>
            <a:custGeom>
              <a:avLst/>
              <a:gdLst/>
              <a:ahLst/>
              <a:cxnLst/>
              <a:rect r="r" b="b" t="t" l="l"/>
              <a:pathLst>
                <a:path h="19240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24050"/>
                  </a:lnTo>
                  <a:lnTo>
                    <a:pt x="0" y="192405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6879431"/>
            <a:ext cx="57150" cy="1443038"/>
            <a:chOff x="0" y="0"/>
            <a:chExt cx="76200" cy="1924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1924050"/>
            </a:xfrm>
            <a:custGeom>
              <a:avLst/>
              <a:gdLst/>
              <a:ahLst/>
              <a:cxnLst/>
              <a:rect r="r" b="b" t="t" l="l"/>
              <a:pathLst>
                <a:path h="19240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24050"/>
                  </a:lnTo>
                  <a:lnTo>
                    <a:pt x="0" y="1924050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14400" y="790575"/>
            <a:ext cx="1660207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Chapitre 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1128713"/>
            <a:ext cx="173736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4. Structures : Frames, Grilles &amp; Auto Layout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96758" y="5067300"/>
            <a:ext cx="8491242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60A5FA"/>
                </a:solidFill>
                <a:latin typeface="Arimo Bold"/>
                <a:ea typeface="Arimo Bold"/>
                <a:cs typeface="Arimo Bold"/>
                <a:sym typeface="Arimo Bold"/>
              </a:rPr>
              <a:t>Pourquoi l'Auto Layout 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7300" y="3783806"/>
            <a:ext cx="9557833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Les Frames (Conteneurs)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7300" y="4160044"/>
            <a:ext cx="7425033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À la différence des groupes, les frames possèdent leurs propres propriétés de taille, d'arrière-plan et de découpe (Clip Content).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7300" y="5455444"/>
            <a:ext cx="9557833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Layout Grids (Grilles de mise en page)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7300" y="5831681"/>
            <a:ext cx="7425033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Alignement rigoureux des éléments grâce aux colonnes (Columns), lignes et grilles de pixels.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7300" y="7127081"/>
            <a:ext cx="9557833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40AF"/>
                </a:solidFill>
                <a:latin typeface="Arimo Bold"/>
                <a:ea typeface="Arimo Bold"/>
                <a:cs typeface="Arimo Bold"/>
                <a:sym typeface="Arimo Bold"/>
              </a:rPr>
              <a:t>Auto Layout (Mise en page dynamique)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7300" y="7503319"/>
            <a:ext cx="7425033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1E3A8A"/>
                </a:solidFill>
                <a:latin typeface="Arimo"/>
                <a:ea typeface="Arimo"/>
                <a:cs typeface="Arimo"/>
                <a:sym typeface="Arimo"/>
              </a:rPr>
              <a:t>Permet de créer des composants réactifs qui s'adaptent automatiquement à la taille du contenu (Padding, Gap, Alignment).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39633" y="5595938"/>
            <a:ext cx="114300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30133" y="5500688"/>
            <a:ext cx="815786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687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Boutons s'agrandissant avec le texte.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39633" y="5981700"/>
            <a:ext cx="114300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30133" y="5886450"/>
            <a:ext cx="815786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687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Listes et cartes se réordonnant automatiquement.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39633" y="6367462"/>
            <a:ext cx="114300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30133" y="6272212"/>
            <a:ext cx="815786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687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Adaptation parfaite aux normes des développeurs (Flexbox).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957388"/>
            <a:ext cx="16459200" cy="14288"/>
            <a:chOff x="0" y="0"/>
            <a:chExt cx="219456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37560" y="3793331"/>
            <a:ext cx="7943183" cy="4271962"/>
            <a:chOff x="0" y="0"/>
            <a:chExt cx="10590911" cy="5695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90911" cy="5695950"/>
            </a:xfrm>
            <a:custGeom>
              <a:avLst/>
              <a:gdLst/>
              <a:ahLst/>
              <a:cxnLst/>
              <a:rect r="r" b="b" t="t" l="l"/>
              <a:pathLst>
                <a:path h="5695950" w="10590911">
                  <a:moveTo>
                    <a:pt x="0" y="305816"/>
                  </a:moveTo>
                  <a:cubicBezTo>
                    <a:pt x="0" y="136906"/>
                    <a:pt x="136906" y="0"/>
                    <a:pt x="305816" y="0"/>
                  </a:cubicBezTo>
                  <a:lnTo>
                    <a:pt x="10285095" y="0"/>
                  </a:lnTo>
                  <a:cubicBezTo>
                    <a:pt x="10454005" y="0"/>
                    <a:pt x="10590911" y="136906"/>
                    <a:pt x="10590911" y="305816"/>
                  </a:cubicBezTo>
                  <a:lnTo>
                    <a:pt x="10590911" y="5390134"/>
                  </a:lnTo>
                  <a:cubicBezTo>
                    <a:pt x="10590911" y="5559044"/>
                    <a:pt x="10454005" y="5695950"/>
                    <a:pt x="10285095" y="5695950"/>
                  </a:cubicBezTo>
                  <a:lnTo>
                    <a:pt x="305816" y="5695950"/>
                  </a:lnTo>
                  <a:cubicBezTo>
                    <a:pt x="136906" y="5695950"/>
                    <a:pt x="0" y="5559044"/>
                    <a:pt x="0" y="5390134"/>
                  </a:cubicBezTo>
                  <a:close/>
                </a:path>
              </a:pathLst>
            </a:custGeom>
            <a:solidFill>
              <a:srgbClr val="F1F5F9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551663" y="4157662"/>
            <a:ext cx="3714750" cy="3143250"/>
            <a:chOff x="0" y="0"/>
            <a:chExt cx="4953000" cy="419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53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9530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4724400" y="0"/>
                  </a:lnTo>
                  <a:cubicBezTo>
                    <a:pt x="4850638" y="0"/>
                    <a:pt x="4953000" y="102362"/>
                    <a:pt x="4953000" y="228600"/>
                  </a:cubicBezTo>
                  <a:lnTo>
                    <a:pt x="4953000" y="3962400"/>
                  </a:lnTo>
                  <a:cubicBezTo>
                    <a:pt x="4953000" y="4088638"/>
                    <a:pt x="4850638" y="4191000"/>
                    <a:pt x="4724400" y="4191000"/>
                  </a:cubicBezTo>
                  <a:lnTo>
                    <a:pt x="228600" y="4191000"/>
                  </a:lnTo>
                  <a:cubicBezTo>
                    <a:pt x="102362" y="4191000"/>
                    <a:pt x="0" y="4088638"/>
                    <a:pt x="0" y="3962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5629275"/>
            <a:ext cx="3922138" cy="700088"/>
            <a:chOff x="0" y="0"/>
            <a:chExt cx="5229517" cy="933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29479" cy="933450"/>
            </a:xfrm>
            <a:custGeom>
              <a:avLst/>
              <a:gdLst/>
              <a:ahLst/>
              <a:cxnLst/>
              <a:rect r="r" b="b" t="t" l="l"/>
              <a:pathLst>
                <a:path h="933450" w="5229479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5077079" y="0"/>
                  </a:lnTo>
                  <a:cubicBezTo>
                    <a:pt x="5161280" y="0"/>
                    <a:pt x="5229479" y="68199"/>
                    <a:pt x="5229479" y="152400"/>
                  </a:cubicBezTo>
                  <a:lnTo>
                    <a:pt x="5229479" y="781050"/>
                  </a:lnTo>
                  <a:cubicBezTo>
                    <a:pt x="5229479" y="865251"/>
                    <a:pt x="5161280" y="933450"/>
                    <a:pt x="5077079" y="933450"/>
                  </a:cubicBezTo>
                  <a:lnTo>
                    <a:pt x="152400" y="933450"/>
                  </a:lnTo>
                  <a:cubicBezTo>
                    <a:pt x="68199" y="933450"/>
                    <a:pt x="0" y="865251"/>
                    <a:pt x="0" y="7810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5629275"/>
            <a:ext cx="42862" cy="700088"/>
            <a:chOff x="0" y="0"/>
            <a:chExt cx="57150" cy="9334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" cy="933450"/>
            </a:xfrm>
            <a:custGeom>
              <a:avLst/>
              <a:gdLst/>
              <a:ahLst/>
              <a:cxnLst/>
              <a:rect r="r" b="b" t="t" l="l"/>
              <a:pathLst>
                <a:path h="933450" w="57150">
                  <a:moveTo>
                    <a:pt x="0" y="0"/>
                  </a:moveTo>
                  <a:lnTo>
                    <a:pt x="57150" y="0"/>
                  </a:lnTo>
                  <a:lnTo>
                    <a:pt x="5715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007988" y="5629275"/>
            <a:ext cx="3922366" cy="700088"/>
            <a:chOff x="0" y="0"/>
            <a:chExt cx="5229822" cy="933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29860" cy="933450"/>
            </a:xfrm>
            <a:custGeom>
              <a:avLst/>
              <a:gdLst/>
              <a:ahLst/>
              <a:cxnLst/>
              <a:rect r="r" b="b" t="t" l="l"/>
              <a:pathLst>
                <a:path h="933450" w="522986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5077460" y="0"/>
                  </a:lnTo>
                  <a:cubicBezTo>
                    <a:pt x="5161661" y="0"/>
                    <a:pt x="5229860" y="68199"/>
                    <a:pt x="5229860" y="152400"/>
                  </a:cubicBezTo>
                  <a:lnTo>
                    <a:pt x="5229860" y="781050"/>
                  </a:lnTo>
                  <a:cubicBezTo>
                    <a:pt x="5229860" y="865251"/>
                    <a:pt x="5161661" y="933450"/>
                    <a:pt x="5077460" y="933450"/>
                  </a:cubicBezTo>
                  <a:lnTo>
                    <a:pt x="152400" y="933450"/>
                  </a:lnTo>
                  <a:cubicBezTo>
                    <a:pt x="68199" y="933450"/>
                    <a:pt x="0" y="865251"/>
                    <a:pt x="0" y="7810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007988" y="5629275"/>
            <a:ext cx="42862" cy="700088"/>
            <a:chOff x="0" y="0"/>
            <a:chExt cx="57150" cy="933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" cy="933450"/>
            </a:xfrm>
            <a:custGeom>
              <a:avLst/>
              <a:gdLst/>
              <a:ahLst/>
              <a:cxnLst/>
              <a:rect r="r" b="b" t="t" l="l"/>
              <a:pathLst>
                <a:path h="933450" w="57150">
                  <a:moveTo>
                    <a:pt x="0" y="0"/>
                  </a:moveTo>
                  <a:lnTo>
                    <a:pt x="57150" y="0"/>
                  </a:lnTo>
                  <a:lnTo>
                    <a:pt x="5715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6500812"/>
            <a:ext cx="3922138" cy="700088"/>
            <a:chOff x="0" y="0"/>
            <a:chExt cx="5229517" cy="9334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29479" cy="933450"/>
            </a:xfrm>
            <a:custGeom>
              <a:avLst/>
              <a:gdLst/>
              <a:ahLst/>
              <a:cxnLst/>
              <a:rect r="r" b="b" t="t" l="l"/>
              <a:pathLst>
                <a:path h="933450" w="5229479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5077079" y="0"/>
                  </a:lnTo>
                  <a:cubicBezTo>
                    <a:pt x="5161280" y="0"/>
                    <a:pt x="5229479" y="68199"/>
                    <a:pt x="5229479" y="152400"/>
                  </a:cubicBezTo>
                  <a:lnTo>
                    <a:pt x="5229479" y="781050"/>
                  </a:lnTo>
                  <a:cubicBezTo>
                    <a:pt x="5229479" y="865251"/>
                    <a:pt x="5161280" y="933450"/>
                    <a:pt x="5077079" y="933450"/>
                  </a:cubicBezTo>
                  <a:lnTo>
                    <a:pt x="152400" y="933450"/>
                  </a:lnTo>
                  <a:cubicBezTo>
                    <a:pt x="68199" y="933450"/>
                    <a:pt x="0" y="865251"/>
                    <a:pt x="0" y="7810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6500812"/>
            <a:ext cx="42862" cy="700088"/>
            <a:chOff x="0" y="0"/>
            <a:chExt cx="57150" cy="9334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150" cy="933450"/>
            </a:xfrm>
            <a:custGeom>
              <a:avLst/>
              <a:gdLst/>
              <a:ahLst/>
              <a:cxnLst/>
              <a:rect r="r" b="b" t="t" l="l"/>
              <a:pathLst>
                <a:path h="933450" w="57150">
                  <a:moveTo>
                    <a:pt x="0" y="0"/>
                  </a:moveTo>
                  <a:lnTo>
                    <a:pt x="57150" y="0"/>
                  </a:lnTo>
                  <a:lnTo>
                    <a:pt x="5715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007988" y="6500812"/>
            <a:ext cx="3922366" cy="700088"/>
            <a:chOff x="0" y="0"/>
            <a:chExt cx="5229822" cy="9334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29860" cy="933450"/>
            </a:xfrm>
            <a:custGeom>
              <a:avLst/>
              <a:gdLst/>
              <a:ahLst/>
              <a:cxnLst/>
              <a:rect r="r" b="b" t="t" l="l"/>
              <a:pathLst>
                <a:path h="933450" w="522986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5077460" y="0"/>
                  </a:lnTo>
                  <a:cubicBezTo>
                    <a:pt x="5161661" y="0"/>
                    <a:pt x="5229860" y="68199"/>
                    <a:pt x="5229860" y="152400"/>
                  </a:cubicBezTo>
                  <a:lnTo>
                    <a:pt x="5229860" y="781050"/>
                  </a:lnTo>
                  <a:cubicBezTo>
                    <a:pt x="5229860" y="865251"/>
                    <a:pt x="5161661" y="933450"/>
                    <a:pt x="5077460" y="933450"/>
                  </a:cubicBezTo>
                  <a:lnTo>
                    <a:pt x="152400" y="933450"/>
                  </a:lnTo>
                  <a:cubicBezTo>
                    <a:pt x="68199" y="933450"/>
                    <a:pt x="0" y="865251"/>
                    <a:pt x="0" y="7810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007988" y="6500812"/>
            <a:ext cx="42862" cy="700088"/>
            <a:chOff x="0" y="0"/>
            <a:chExt cx="57150" cy="9334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50" cy="933450"/>
            </a:xfrm>
            <a:custGeom>
              <a:avLst/>
              <a:gdLst/>
              <a:ahLst/>
              <a:cxnLst/>
              <a:rect r="r" b="b" t="t" l="l"/>
              <a:pathLst>
                <a:path h="933450" w="57150">
                  <a:moveTo>
                    <a:pt x="0" y="0"/>
                  </a:moveTo>
                  <a:lnTo>
                    <a:pt x="57150" y="0"/>
                  </a:lnTo>
                  <a:lnTo>
                    <a:pt x="5715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837413" y="4443412"/>
            <a:ext cx="514350" cy="514350"/>
            <a:chOff x="0" y="0"/>
            <a:chExt cx="685800" cy="685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533400" y="0"/>
                  </a:lnTo>
                  <a:cubicBezTo>
                    <a:pt x="617601" y="0"/>
                    <a:pt x="685800" y="68199"/>
                    <a:pt x="685800" y="152400"/>
                  </a:cubicBezTo>
                  <a:lnTo>
                    <a:pt x="685800" y="533400"/>
                  </a:lnTo>
                  <a:cubicBezTo>
                    <a:pt x="685800" y="617601"/>
                    <a:pt x="617601" y="685800"/>
                    <a:pt x="533400" y="685800"/>
                  </a:cubicBezTo>
                  <a:lnTo>
                    <a:pt x="152400" y="685800"/>
                  </a:lnTo>
                  <a:cubicBezTo>
                    <a:pt x="68199" y="685800"/>
                    <a:pt x="0" y="617601"/>
                    <a:pt x="0" y="5334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837413" y="5129212"/>
            <a:ext cx="2200275" cy="171450"/>
            <a:chOff x="0" y="0"/>
            <a:chExt cx="2933700" cy="228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33700" cy="228600"/>
            </a:xfrm>
            <a:custGeom>
              <a:avLst/>
              <a:gdLst/>
              <a:ahLst/>
              <a:cxnLst/>
              <a:rect r="r" b="b" t="t" l="l"/>
              <a:pathLst>
                <a:path h="228600" w="29337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857500" y="0"/>
                  </a:lnTo>
                  <a:cubicBezTo>
                    <a:pt x="2899537" y="0"/>
                    <a:pt x="2933700" y="34163"/>
                    <a:pt x="2933700" y="76200"/>
                  </a:cubicBezTo>
                  <a:lnTo>
                    <a:pt x="2933700" y="152400"/>
                  </a:lnTo>
                  <a:cubicBezTo>
                    <a:pt x="2933700" y="194437"/>
                    <a:pt x="2899537" y="228600"/>
                    <a:pt x="2857500" y="228600"/>
                  </a:cubicBezTo>
                  <a:lnTo>
                    <a:pt x="76200" y="228600"/>
                  </a:lnTo>
                  <a:cubicBezTo>
                    <a:pt x="34163" y="228600"/>
                    <a:pt x="0" y="194437"/>
                    <a:pt x="0" y="152400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30269" y="5522119"/>
            <a:ext cx="3157538" cy="414338"/>
            <a:chOff x="0" y="0"/>
            <a:chExt cx="4210050" cy="5524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10050" cy="552450"/>
            </a:xfrm>
            <a:custGeom>
              <a:avLst/>
              <a:gdLst/>
              <a:ahLst/>
              <a:cxnLst/>
              <a:rect r="r" b="b" t="t" l="l"/>
              <a:pathLst>
                <a:path h="552450" w="4210050">
                  <a:moveTo>
                    <a:pt x="0" y="118364"/>
                  </a:moveTo>
                  <a:cubicBezTo>
                    <a:pt x="0" y="52959"/>
                    <a:pt x="52959" y="0"/>
                    <a:pt x="118364" y="0"/>
                  </a:cubicBezTo>
                  <a:lnTo>
                    <a:pt x="4091686" y="0"/>
                  </a:lnTo>
                  <a:cubicBezTo>
                    <a:pt x="4157091" y="0"/>
                    <a:pt x="4210050" y="52959"/>
                    <a:pt x="4210050" y="118364"/>
                  </a:cubicBezTo>
                  <a:lnTo>
                    <a:pt x="4210050" y="434086"/>
                  </a:lnTo>
                  <a:cubicBezTo>
                    <a:pt x="4210050" y="499491"/>
                    <a:pt x="4157091" y="552450"/>
                    <a:pt x="4091686" y="552450"/>
                  </a:cubicBezTo>
                  <a:lnTo>
                    <a:pt x="118364" y="552450"/>
                  </a:lnTo>
                  <a:cubicBezTo>
                    <a:pt x="52959" y="552450"/>
                    <a:pt x="0" y="499491"/>
                    <a:pt x="0" y="434086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830269" y="6036469"/>
            <a:ext cx="3157538" cy="414338"/>
            <a:chOff x="0" y="0"/>
            <a:chExt cx="4210050" cy="5524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10050" cy="552450"/>
            </a:xfrm>
            <a:custGeom>
              <a:avLst/>
              <a:gdLst/>
              <a:ahLst/>
              <a:cxnLst/>
              <a:rect r="r" b="b" t="t" l="l"/>
              <a:pathLst>
                <a:path h="552450" w="4210050">
                  <a:moveTo>
                    <a:pt x="0" y="118364"/>
                  </a:moveTo>
                  <a:cubicBezTo>
                    <a:pt x="0" y="52959"/>
                    <a:pt x="52959" y="0"/>
                    <a:pt x="118364" y="0"/>
                  </a:cubicBezTo>
                  <a:lnTo>
                    <a:pt x="4091686" y="0"/>
                  </a:lnTo>
                  <a:cubicBezTo>
                    <a:pt x="4157091" y="0"/>
                    <a:pt x="4210050" y="52959"/>
                    <a:pt x="4210050" y="118364"/>
                  </a:cubicBezTo>
                  <a:lnTo>
                    <a:pt x="4210050" y="434086"/>
                  </a:lnTo>
                  <a:cubicBezTo>
                    <a:pt x="4210050" y="499491"/>
                    <a:pt x="4157091" y="552450"/>
                    <a:pt x="4091686" y="552450"/>
                  </a:cubicBezTo>
                  <a:lnTo>
                    <a:pt x="118364" y="552450"/>
                  </a:lnTo>
                  <a:cubicBezTo>
                    <a:pt x="52959" y="552450"/>
                    <a:pt x="0" y="499491"/>
                    <a:pt x="0" y="434086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837413" y="6615112"/>
            <a:ext cx="3143250" cy="400050"/>
            <a:chOff x="0" y="0"/>
            <a:chExt cx="4191000" cy="533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91000" cy="533400"/>
            </a:xfrm>
            <a:custGeom>
              <a:avLst/>
              <a:gdLst/>
              <a:ahLst/>
              <a:cxnLst/>
              <a:rect r="r" b="b" t="t" l="l"/>
              <a:pathLst>
                <a:path h="533400" w="41910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4076700" y="0"/>
                  </a:lnTo>
                  <a:cubicBezTo>
                    <a:pt x="4139819" y="0"/>
                    <a:pt x="4191000" y="51181"/>
                    <a:pt x="4191000" y="114300"/>
                  </a:cubicBezTo>
                  <a:lnTo>
                    <a:pt x="4191000" y="419100"/>
                  </a:lnTo>
                  <a:cubicBezTo>
                    <a:pt x="4191000" y="482219"/>
                    <a:pt x="4139819" y="533400"/>
                    <a:pt x="4076700" y="533400"/>
                  </a:cubicBezTo>
                  <a:lnTo>
                    <a:pt x="114300" y="533400"/>
                  </a:lnTo>
                  <a:cubicBezTo>
                    <a:pt x="51181" y="533400"/>
                    <a:pt x="0" y="482219"/>
                    <a:pt x="0" y="4191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85862" y="5886450"/>
            <a:ext cx="214312" cy="214312"/>
            <a:chOff x="0" y="0"/>
            <a:chExt cx="285750" cy="28575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285750" cy="285750"/>
            </a:xfrm>
            <a:custGeom>
              <a:avLst/>
              <a:gdLst/>
              <a:ahLst/>
              <a:cxnLst/>
              <a:rect r="r" b="b" t="t" l="l"/>
              <a:pathLst>
                <a:path h="2857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279450" y="5886450"/>
            <a:ext cx="114300" cy="214312"/>
            <a:chOff x="0" y="0"/>
            <a:chExt cx="152400" cy="28575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152400" cy="285750"/>
            </a:xfrm>
            <a:custGeom>
              <a:avLst/>
              <a:gdLst/>
              <a:ahLst/>
              <a:cxnLst/>
              <a:rect r="r" b="b" t="t" l="l"/>
              <a:pathLst>
                <a:path h="2857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250" t="0" r="-625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85862" y="6757988"/>
            <a:ext cx="242888" cy="214312"/>
            <a:chOff x="0" y="0"/>
            <a:chExt cx="323850" cy="28575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323850" cy="285750"/>
            </a:xfrm>
            <a:custGeom>
              <a:avLst/>
              <a:gdLst/>
              <a:ahLst/>
              <a:cxnLst/>
              <a:rect r="r" b="b" t="t" l="l"/>
              <a:pathLst>
                <a:path h="2857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279450" y="6757988"/>
            <a:ext cx="185738" cy="214312"/>
            <a:chOff x="0" y="0"/>
            <a:chExt cx="247650" cy="28575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247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846" t="0" r="-3846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14400" y="790575"/>
            <a:ext cx="1660207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Cas Pratique UI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4400" y="1128713"/>
            <a:ext cx="173736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5. Application : Conception d'une Page de Connexion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4400" y="4581525"/>
            <a:ext cx="815882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Exemple d'assemblage logique des composants pour concevoir une interface propre et fonctionnelle.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530232" y="7462837"/>
            <a:ext cx="469701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Structure Login optimisée par Auto Layout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43000" y="5810250"/>
            <a:ext cx="3607813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 Logo &amp; Illustration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36588" y="5810250"/>
            <a:ext cx="3608041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 Champs Email / Password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43000" y="6681788"/>
            <a:ext cx="3607813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 Bouton d'action CTA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236588" y="6681788"/>
            <a:ext cx="3608041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 Option "Se souvenir"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957388"/>
            <a:ext cx="16459200" cy="14288"/>
            <a:chOff x="0" y="0"/>
            <a:chExt cx="219456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7256" y="3486150"/>
            <a:ext cx="7972425" cy="1485900"/>
            <a:chOff x="0" y="0"/>
            <a:chExt cx="10629900" cy="198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299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629900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10437622" y="0"/>
                  </a:lnTo>
                  <a:cubicBezTo>
                    <a:pt x="10543794" y="0"/>
                    <a:pt x="10629900" y="86106"/>
                    <a:pt x="10629900" y="192278"/>
                  </a:cubicBezTo>
                  <a:lnTo>
                    <a:pt x="10629900" y="1788922"/>
                  </a:lnTo>
                  <a:cubicBezTo>
                    <a:pt x="10629900" y="1895094"/>
                    <a:pt x="10543794" y="1981200"/>
                    <a:pt x="10437622" y="1981200"/>
                  </a:cubicBezTo>
                  <a:lnTo>
                    <a:pt x="192278" y="1981200"/>
                  </a:lnTo>
                  <a:cubicBezTo>
                    <a:pt x="86106" y="1981200"/>
                    <a:pt x="0" y="1895094"/>
                    <a:pt x="0" y="1788922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F1F5F9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07256" y="5186362"/>
            <a:ext cx="7972425" cy="1485900"/>
            <a:chOff x="0" y="0"/>
            <a:chExt cx="10629900" cy="198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299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629900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10437622" y="0"/>
                  </a:lnTo>
                  <a:cubicBezTo>
                    <a:pt x="10543794" y="0"/>
                    <a:pt x="10629900" y="86106"/>
                    <a:pt x="10629900" y="192278"/>
                  </a:cubicBezTo>
                  <a:lnTo>
                    <a:pt x="10629900" y="1788922"/>
                  </a:lnTo>
                  <a:cubicBezTo>
                    <a:pt x="10629900" y="1895094"/>
                    <a:pt x="10543794" y="1981200"/>
                    <a:pt x="10437622" y="1981200"/>
                  </a:cubicBezTo>
                  <a:lnTo>
                    <a:pt x="192278" y="1981200"/>
                  </a:lnTo>
                  <a:cubicBezTo>
                    <a:pt x="86106" y="1981200"/>
                    <a:pt x="0" y="1895094"/>
                    <a:pt x="0" y="1788922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F1F5F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07256" y="6886575"/>
            <a:ext cx="7972425" cy="1485900"/>
            <a:chOff x="0" y="0"/>
            <a:chExt cx="10629900" cy="198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299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629900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10437622" y="0"/>
                  </a:lnTo>
                  <a:cubicBezTo>
                    <a:pt x="10543794" y="0"/>
                    <a:pt x="10629900" y="86106"/>
                    <a:pt x="10629900" y="192278"/>
                  </a:cubicBezTo>
                  <a:lnTo>
                    <a:pt x="10629900" y="1788922"/>
                  </a:lnTo>
                  <a:cubicBezTo>
                    <a:pt x="10629900" y="1895094"/>
                    <a:pt x="10543794" y="1981200"/>
                    <a:pt x="10437622" y="1981200"/>
                  </a:cubicBezTo>
                  <a:lnTo>
                    <a:pt x="192278" y="1981200"/>
                  </a:lnTo>
                  <a:cubicBezTo>
                    <a:pt x="86106" y="1981200"/>
                    <a:pt x="0" y="1895094"/>
                    <a:pt x="0" y="1788922"/>
                  </a:cubicBezTo>
                  <a:close/>
                </a:path>
              </a:pathLst>
            </a:custGeom>
            <a:solidFill>
              <a:srgbClr val="ECFDF5"/>
            </a:solidFill>
            <a:ln w="14288" cap="sq">
              <a:solidFill>
                <a:srgbClr val="A7F3D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386888" y="3500438"/>
            <a:ext cx="7986712" cy="4857750"/>
            <a:chOff x="0" y="0"/>
            <a:chExt cx="10648950" cy="6477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648950" cy="6477000"/>
            </a:xfrm>
            <a:custGeom>
              <a:avLst/>
              <a:gdLst/>
              <a:ahLst/>
              <a:cxnLst/>
              <a:rect r="r" b="b" t="t" l="l"/>
              <a:pathLst>
                <a:path h="6477000" w="10648950">
                  <a:moveTo>
                    <a:pt x="0" y="0"/>
                  </a:moveTo>
                  <a:lnTo>
                    <a:pt x="10648950" y="0"/>
                  </a:lnTo>
                  <a:lnTo>
                    <a:pt x="1064895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401175" y="3514725"/>
            <a:ext cx="7958138" cy="4829175"/>
            <a:chOff x="0" y="0"/>
            <a:chExt cx="10610850" cy="64389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61085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0610850">
                  <a:moveTo>
                    <a:pt x="0" y="0"/>
                  </a:moveTo>
                  <a:lnTo>
                    <a:pt x="10610850" y="0"/>
                  </a:lnTo>
                  <a:lnTo>
                    <a:pt x="10610850" y="6438900"/>
                  </a:lnTo>
                  <a:lnTo>
                    <a:pt x="0" y="643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5" r="0" b="-20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4400" y="790575"/>
            <a:ext cx="1660207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Chapitre 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1128713"/>
            <a:ext cx="173736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6. Design System : Styles, Tokens &amp; Librairies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4438" y="3755231"/>
            <a:ext cx="965745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Styles de Couleurs &amp; Textes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4438" y="4131469"/>
            <a:ext cx="750093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Définition de la palette globale (Primary, Neutral, Success) et des échelles typographiques (H1, Body, Caption).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4438" y="5455444"/>
            <a:ext cx="965745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Variables &amp; Tokens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4438" y="5831681"/>
            <a:ext cx="750093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Gestion centralisée du Light/Dark Mode et des espacements standards.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4438" y="7155656"/>
            <a:ext cx="965745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47857"/>
                </a:solidFill>
                <a:latin typeface="Arimo Bold"/>
                <a:ea typeface="Arimo Bold"/>
                <a:cs typeface="Arimo Bold"/>
                <a:sym typeface="Arimo Bold"/>
              </a:rPr>
              <a:t>Avantage Majeur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4438" y="7531894"/>
            <a:ext cx="750093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065F46"/>
                </a:solidFill>
                <a:latin typeface="Arimo"/>
                <a:ea typeface="Arimo"/>
                <a:cs typeface="Arimo"/>
                <a:sym typeface="Arimo"/>
              </a:rPr>
              <a:t>Garantir l'homogénéité visuelle sur 100+ écrans et faciliter le travail en équipe.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957388"/>
            <a:ext cx="16459200" cy="14288"/>
            <a:chOff x="0" y="0"/>
            <a:chExt cx="219456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7256" y="3350419"/>
            <a:ext cx="5272088" cy="5157788"/>
            <a:chOff x="0" y="0"/>
            <a:chExt cx="7029450" cy="6877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294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7029450">
                  <a:moveTo>
                    <a:pt x="0" y="229235"/>
                  </a:moveTo>
                  <a:cubicBezTo>
                    <a:pt x="0" y="102616"/>
                    <a:pt x="102616" y="0"/>
                    <a:pt x="229235" y="0"/>
                  </a:cubicBezTo>
                  <a:lnTo>
                    <a:pt x="6800215" y="0"/>
                  </a:lnTo>
                  <a:cubicBezTo>
                    <a:pt x="6926835" y="0"/>
                    <a:pt x="7029450" y="102616"/>
                    <a:pt x="7029450" y="229235"/>
                  </a:cubicBezTo>
                  <a:lnTo>
                    <a:pt x="7029450" y="6647815"/>
                  </a:lnTo>
                  <a:cubicBezTo>
                    <a:pt x="7029450" y="6774434"/>
                    <a:pt x="6926835" y="6877050"/>
                    <a:pt x="6800215" y="6877050"/>
                  </a:cubicBezTo>
                  <a:lnTo>
                    <a:pt x="229235" y="6877050"/>
                  </a:lnTo>
                  <a:cubicBezTo>
                    <a:pt x="102616" y="6877050"/>
                    <a:pt x="0" y="6774434"/>
                    <a:pt x="0" y="6647815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507956" y="3350419"/>
            <a:ext cx="5272088" cy="5157788"/>
            <a:chOff x="0" y="0"/>
            <a:chExt cx="7029450" cy="6877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294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7029450">
                  <a:moveTo>
                    <a:pt x="0" y="229235"/>
                  </a:moveTo>
                  <a:cubicBezTo>
                    <a:pt x="0" y="102616"/>
                    <a:pt x="102616" y="0"/>
                    <a:pt x="229235" y="0"/>
                  </a:cubicBezTo>
                  <a:lnTo>
                    <a:pt x="6800215" y="0"/>
                  </a:lnTo>
                  <a:cubicBezTo>
                    <a:pt x="6926835" y="0"/>
                    <a:pt x="7029450" y="102616"/>
                    <a:pt x="7029450" y="229235"/>
                  </a:cubicBezTo>
                  <a:lnTo>
                    <a:pt x="7029450" y="6647815"/>
                  </a:lnTo>
                  <a:cubicBezTo>
                    <a:pt x="7029450" y="6774434"/>
                    <a:pt x="6926835" y="6877050"/>
                    <a:pt x="6800215" y="6877050"/>
                  </a:cubicBezTo>
                  <a:lnTo>
                    <a:pt x="229235" y="6877050"/>
                  </a:lnTo>
                  <a:cubicBezTo>
                    <a:pt x="102616" y="6877050"/>
                    <a:pt x="0" y="6774434"/>
                    <a:pt x="0" y="6647815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08656" y="3350419"/>
            <a:ext cx="5272088" cy="5157788"/>
            <a:chOff x="0" y="0"/>
            <a:chExt cx="7029450" cy="6877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294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7029450">
                  <a:moveTo>
                    <a:pt x="0" y="229235"/>
                  </a:moveTo>
                  <a:cubicBezTo>
                    <a:pt x="0" y="102616"/>
                    <a:pt x="102616" y="0"/>
                    <a:pt x="229235" y="0"/>
                  </a:cubicBezTo>
                  <a:lnTo>
                    <a:pt x="6800215" y="0"/>
                  </a:lnTo>
                  <a:cubicBezTo>
                    <a:pt x="6926835" y="0"/>
                    <a:pt x="7029450" y="102616"/>
                    <a:pt x="7029450" y="229235"/>
                  </a:cubicBezTo>
                  <a:lnTo>
                    <a:pt x="7029450" y="6647815"/>
                  </a:lnTo>
                  <a:cubicBezTo>
                    <a:pt x="7029450" y="6774434"/>
                    <a:pt x="6926835" y="6877050"/>
                    <a:pt x="6800215" y="6877050"/>
                  </a:cubicBezTo>
                  <a:lnTo>
                    <a:pt x="229235" y="6877050"/>
                  </a:lnTo>
                  <a:cubicBezTo>
                    <a:pt x="102616" y="6877050"/>
                    <a:pt x="0" y="6774434"/>
                    <a:pt x="0" y="6647815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71588" y="3714750"/>
            <a:ext cx="571500" cy="571500"/>
            <a:chOff x="0" y="0"/>
            <a:chExt cx="762000" cy="762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72288" y="3714750"/>
            <a:ext cx="571500" cy="571500"/>
            <a:chOff x="0" y="0"/>
            <a:chExt cx="762000" cy="762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50" t="0" r="-125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472988" y="3714750"/>
            <a:ext cx="571500" cy="571500"/>
            <a:chOff x="0" y="0"/>
            <a:chExt cx="762000" cy="762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50" t="0" r="-125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28750" y="3871912"/>
            <a:ext cx="257175" cy="257175"/>
            <a:chOff x="0" y="0"/>
            <a:chExt cx="342900" cy="342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29450" y="3871912"/>
            <a:ext cx="257175" cy="257175"/>
            <a:chOff x="0" y="0"/>
            <a:chExt cx="342900" cy="3429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77" t="0" r="-2777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644438" y="3871912"/>
            <a:ext cx="228600" cy="257175"/>
            <a:chOff x="0" y="0"/>
            <a:chExt cx="304800" cy="3429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304800" cy="342900"/>
            </a:xfrm>
            <a:custGeom>
              <a:avLst/>
              <a:gdLst/>
              <a:ahLst/>
              <a:cxnLst/>
              <a:rect r="r" b="b" t="t" l="l"/>
              <a:pathLst>
                <a:path h="3429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125" t="0" r="-3125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14400" y="790575"/>
            <a:ext cx="1660207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Chapitre 06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1128713"/>
            <a:ext cx="173736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7. Composants &amp; Variantes (Variants)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1588" y="4505325"/>
            <a:ext cx="596324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Main Component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1588" y="4891087"/>
            <a:ext cx="4686300" cy="103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L'élément maître d'origine. Toute modification apportée au Master s'applique automatiquement à l'ensemble du projet.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72288" y="4505325"/>
            <a:ext cx="596324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Instances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72288" y="4891087"/>
            <a:ext cx="4686300" cy="103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Les copies du composant réparties dans les écrans. Elles peuvent avoir des textes et des icônes spécifiques (Overrides).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72988" y="4505325"/>
            <a:ext cx="58150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Variantes &amp; États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72988" y="4891087"/>
            <a:ext cx="4686300" cy="103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Regroupement des états d'un composant (Default, Hover, Active, Disabled) sous une même structure claire.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957388"/>
            <a:ext cx="16459200" cy="14288"/>
            <a:chOff x="0" y="0"/>
            <a:chExt cx="219456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08319" y="3486150"/>
            <a:ext cx="7972425" cy="1485900"/>
            <a:chOff x="0" y="0"/>
            <a:chExt cx="10629900" cy="198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299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629900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10437622" y="0"/>
                  </a:lnTo>
                  <a:cubicBezTo>
                    <a:pt x="10543794" y="0"/>
                    <a:pt x="10629900" y="86106"/>
                    <a:pt x="10629900" y="192278"/>
                  </a:cubicBezTo>
                  <a:lnTo>
                    <a:pt x="10629900" y="1788922"/>
                  </a:lnTo>
                  <a:cubicBezTo>
                    <a:pt x="10629900" y="1895094"/>
                    <a:pt x="10543794" y="1981200"/>
                    <a:pt x="10437622" y="1981200"/>
                  </a:cubicBezTo>
                  <a:lnTo>
                    <a:pt x="192278" y="1981200"/>
                  </a:lnTo>
                  <a:cubicBezTo>
                    <a:pt x="86106" y="1981200"/>
                    <a:pt x="0" y="1895094"/>
                    <a:pt x="0" y="1788922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F1F5F9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408319" y="5186362"/>
            <a:ext cx="7972425" cy="1485900"/>
            <a:chOff x="0" y="0"/>
            <a:chExt cx="10629900" cy="198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299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629900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10437622" y="0"/>
                  </a:lnTo>
                  <a:cubicBezTo>
                    <a:pt x="10543794" y="0"/>
                    <a:pt x="10629900" y="86106"/>
                    <a:pt x="10629900" y="192278"/>
                  </a:cubicBezTo>
                  <a:lnTo>
                    <a:pt x="10629900" y="1788922"/>
                  </a:lnTo>
                  <a:cubicBezTo>
                    <a:pt x="10629900" y="1895094"/>
                    <a:pt x="10543794" y="1981200"/>
                    <a:pt x="10437622" y="1981200"/>
                  </a:cubicBezTo>
                  <a:lnTo>
                    <a:pt x="192278" y="1981200"/>
                  </a:lnTo>
                  <a:cubicBezTo>
                    <a:pt x="86106" y="1981200"/>
                    <a:pt x="0" y="1895094"/>
                    <a:pt x="0" y="1788922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F1F5F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408319" y="6886575"/>
            <a:ext cx="7972425" cy="1485900"/>
            <a:chOff x="0" y="0"/>
            <a:chExt cx="10629900" cy="198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299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629900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10437622" y="0"/>
                  </a:lnTo>
                  <a:cubicBezTo>
                    <a:pt x="10543794" y="0"/>
                    <a:pt x="10629900" y="86106"/>
                    <a:pt x="10629900" y="192278"/>
                  </a:cubicBezTo>
                  <a:lnTo>
                    <a:pt x="10629900" y="1788922"/>
                  </a:lnTo>
                  <a:cubicBezTo>
                    <a:pt x="10629900" y="1895094"/>
                    <a:pt x="10543794" y="1981200"/>
                    <a:pt x="10437622" y="1981200"/>
                  </a:cubicBezTo>
                  <a:lnTo>
                    <a:pt x="192278" y="1981200"/>
                  </a:lnTo>
                  <a:cubicBezTo>
                    <a:pt x="86106" y="1981200"/>
                    <a:pt x="0" y="1895094"/>
                    <a:pt x="0" y="1788922"/>
                  </a:cubicBezTo>
                  <a:close/>
                </a:path>
              </a:pathLst>
            </a:custGeom>
            <a:solidFill>
              <a:srgbClr val="FEF3C7"/>
            </a:solidFill>
            <a:ln w="14288" cap="sq">
              <a:solidFill>
                <a:srgbClr val="FDE68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3500438"/>
            <a:ext cx="7986712" cy="4857750"/>
            <a:chOff x="0" y="0"/>
            <a:chExt cx="10648950" cy="6477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648950" cy="6477000"/>
            </a:xfrm>
            <a:custGeom>
              <a:avLst/>
              <a:gdLst/>
              <a:ahLst/>
              <a:cxnLst/>
              <a:rect r="r" b="b" t="t" l="l"/>
              <a:pathLst>
                <a:path h="6477000" w="10648950">
                  <a:moveTo>
                    <a:pt x="0" y="0"/>
                  </a:moveTo>
                  <a:lnTo>
                    <a:pt x="10648950" y="0"/>
                  </a:lnTo>
                  <a:lnTo>
                    <a:pt x="1064895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8688" y="3514725"/>
            <a:ext cx="7958138" cy="4829175"/>
            <a:chOff x="0" y="0"/>
            <a:chExt cx="10610850" cy="64389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61085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0610850">
                  <a:moveTo>
                    <a:pt x="0" y="0"/>
                  </a:moveTo>
                  <a:lnTo>
                    <a:pt x="10610850" y="0"/>
                  </a:lnTo>
                  <a:lnTo>
                    <a:pt x="10610850" y="6438900"/>
                  </a:lnTo>
                  <a:lnTo>
                    <a:pt x="0" y="643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5" r="0" b="-20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4400" y="790575"/>
            <a:ext cx="1660207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D97706"/>
                </a:solidFill>
                <a:latin typeface="Arimo Bold"/>
                <a:ea typeface="Arimo Bold"/>
                <a:cs typeface="Arimo Bold"/>
                <a:sym typeface="Arimo Bold"/>
              </a:rPr>
              <a:t>Chapitre 07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1128713"/>
            <a:ext cx="173736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8. Interactions &amp; Prototypage Dynamique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15500" y="3755231"/>
            <a:ext cx="8572500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Déclencheurs (Triggers) &amp; Actions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5500" y="4131469"/>
            <a:ext cx="750093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Définition des événements : On Click, On Hover, While Pressing, Drag, Delay.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15500" y="5455444"/>
            <a:ext cx="8572500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Smart Animate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15500" y="5831681"/>
            <a:ext cx="750093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Transition automatique fluide entre deux calques portant le même nom (Micro-interactions).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15500" y="7155656"/>
            <a:ext cx="8572500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B45309"/>
                </a:solidFill>
                <a:latin typeface="Arimo Bold"/>
                <a:ea typeface="Arimo Bold"/>
                <a:cs typeface="Arimo Bold"/>
                <a:sym typeface="Arimo Bold"/>
              </a:rPr>
              <a:t>Aperçu &amp; Partage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15500" y="7531894"/>
            <a:ext cx="750093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92400E"/>
                </a:solidFill>
                <a:latin typeface="Arimo"/>
                <a:ea typeface="Arimo"/>
                <a:cs typeface="Arimo"/>
                <a:sym typeface="Arimo"/>
              </a:rPr>
              <a:t>Test en direct avec Figma Mirror et génération de liens interactifs pour les utilisateurs et développeurs.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86500" y="6636544"/>
            <a:ext cx="5715000" cy="14288"/>
            <a:chOff x="0" y="0"/>
            <a:chExt cx="76200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0" cy="19050"/>
            </a:xfrm>
            <a:custGeom>
              <a:avLst/>
              <a:gdLst/>
              <a:ahLst/>
              <a:cxnLst/>
              <a:rect r="r" b="b" t="t" l="l"/>
              <a:pathLst>
                <a:path h="1905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86800" y="2964656"/>
            <a:ext cx="914400" cy="914400"/>
            <a:chOff x="0" y="0"/>
            <a:chExt cx="1219200" cy="12192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81" r="0" b="-78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72550" y="3193256"/>
            <a:ext cx="342900" cy="457200"/>
            <a:chOff x="0" y="0"/>
            <a:chExt cx="457200" cy="6096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518297" y="4193381"/>
            <a:ext cx="11251406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Merci de votre Attention 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71812" y="5245894"/>
            <a:ext cx="12144375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25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Vous avez désormais toutes les clés pour concevoir des interfaces modernes et interactives sur Figma.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72125" y="6969919"/>
            <a:ext cx="71437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C084FC"/>
                </a:solidFill>
                <a:latin typeface="Arimo Bold"/>
                <a:ea typeface="Arimo Bold"/>
                <a:cs typeface="Arimo Bold"/>
                <a:sym typeface="Arimo Bold"/>
              </a:rPr>
              <a:t>Session de Questions / Réponses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DAHWtYOIIQw</dc:identifier>
  <dcterms:modified xsi:type="dcterms:W3CDTF">2011-08-01T06:04:30Z</dcterms:modified>
  <cp:revision>1</cp:revision>
  <dc:title>Création de Maquettes avec Figma.pptx</dc:title>
</cp:coreProperties>
</file>